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2" r:id="rId7"/>
    <p:sldId id="266" r:id="rId8"/>
    <p:sldId id="267" r:id="rId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jy6Oegz0s8I43EMIm9rQltlzelx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00" d="100"/>
          <a:sy n="200" d="100"/>
        </p:scale>
        <p:origin x="-1934" y="-262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b992af582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86" name="Google Shape;86;gb992af5822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6" name="Google Shape;156;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80"/>
              </a:spcBef>
              <a:spcAft>
                <a:spcPts val="0"/>
              </a:spcAft>
              <a:buClr>
                <a:srgbClr val="888888"/>
              </a:buClr>
              <a:buSzPts val="2400"/>
              <a:buNone/>
              <a:defRPr>
                <a:solidFill>
                  <a:srgbClr val="888888"/>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4"/>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4"/>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4"/>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5"/>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5"/>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6"/>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6"/>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6"/>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7"/>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6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7"/>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7"/>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8"/>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8"/>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8"/>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9"/>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9"/>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0"/>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1"/>
          <p:cNvSpPr>
            <a:spLocks noGrp="1"/>
          </p:cNvSpPr>
          <p:nvPr>
            <p:ph type="pic" idx="2"/>
          </p:nvPr>
        </p:nvSpPr>
        <p:spPr>
          <a:xfrm>
            <a:off x="1792288" y="612775"/>
            <a:ext cx="5486400" cy="4114800"/>
          </a:xfrm>
          <a:prstGeom prst="rect">
            <a:avLst/>
          </a:prstGeom>
          <a:noFill/>
          <a:ln>
            <a:noFill/>
          </a:ln>
        </p:spPr>
      </p:sp>
      <p:sp>
        <p:nvSpPr>
          <p:cNvPr id="68" name="Google Shape;68;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1"/>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2"/>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3"/>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3"/>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3"/>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txBox="1">
            <a:spLocks noGrp="1"/>
          </p:cNvSpPr>
          <p:nvPr>
            <p:ph type="body" idx="1"/>
          </p:nvPr>
        </p:nvSpPr>
        <p:spPr>
          <a:xfrm>
            <a:off x="457200" y="2286000"/>
            <a:ext cx="8229600" cy="4070351"/>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457200" y="6381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3122488" y="6373546"/>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gb992af5822_0_0"/>
          <p:cNvSpPr txBox="1">
            <a:spLocks noGrp="1"/>
          </p:cNvSpPr>
          <p:nvPr>
            <p:ph type="ctrTitle"/>
          </p:nvPr>
        </p:nvSpPr>
        <p:spPr>
          <a:xfrm>
            <a:off x="778932" y="2241000"/>
            <a:ext cx="8195733" cy="11880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libri"/>
              <a:buNone/>
            </a:pPr>
            <a:r>
              <a:rPr lang="en-IN" sz="3200" b="1" i="0" u="none" strike="noStrike" cap="none">
                <a:solidFill>
                  <a:schemeClr val="dk1"/>
                </a:solidFill>
                <a:latin typeface="Calibri"/>
                <a:ea typeface="Calibri"/>
                <a:cs typeface="Calibri"/>
                <a:sym typeface="Calibri"/>
              </a:rPr>
              <a:t>       </a:t>
            </a:r>
            <a:br>
              <a:rPr lang="en-IN" sz="3200" b="1" i="0" u="none" strike="noStrike" cap="none">
                <a:solidFill>
                  <a:schemeClr val="dk1"/>
                </a:solidFill>
                <a:latin typeface="Calibri"/>
                <a:ea typeface="Calibri"/>
                <a:cs typeface="Calibri"/>
                <a:sym typeface="Calibri"/>
              </a:rPr>
            </a:br>
            <a:r>
              <a:rPr lang="en-IN" sz="3200" b="1" i="0" u="none" strike="noStrike" cap="none">
                <a:solidFill>
                  <a:schemeClr val="dk1"/>
                </a:solidFill>
                <a:latin typeface="Calibri"/>
                <a:ea typeface="Calibri"/>
                <a:cs typeface="Calibri"/>
                <a:sym typeface="Calibri"/>
              </a:rPr>
              <a:t>B.Tech. </a:t>
            </a:r>
            <a:r>
              <a:rPr lang="en-IN" sz="3200"/>
              <a:t>Artificial Intelligence and Data Science</a:t>
            </a:r>
            <a:br>
              <a:rPr lang="en-IN" sz="3200" b="1" i="0" u="none" strike="noStrike" cap="none">
                <a:solidFill>
                  <a:schemeClr val="dk1"/>
                </a:solidFill>
                <a:latin typeface="Calibri"/>
                <a:ea typeface="Calibri"/>
                <a:cs typeface="Calibri"/>
                <a:sym typeface="Calibri"/>
              </a:rPr>
            </a:br>
            <a:r>
              <a:rPr lang="en-IN" sz="3200" b="1" i="0" u="none" strike="noStrike" cap="none">
                <a:solidFill>
                  <a:schemeClr val="dk1"/>
                </a:solidFill>
                <a:latin typeface="Calibri"/>
                <a:ea typeface="Calibri"/>
                <a:cs typeface="Calibri"/>
                <a:sym typeface="Calibri"/>
              </a:rPr>
              <a:t>Semester: </a:t>
            </a:r>
            <a:r>
              <a:rPr lang="en-IN" sz="3200"/>
              <a:t>7</a:t>
            </a:r>
            <a:br>
              <a:rPr lang="en-IN" sz="3200"/>
            </a:br>
            <a:r>
              <a:rPr lang="en-IN" sz="3200"/>
              <a:t>Capstone Review 2</a:t>
            </a:r>
            <a:br>
              <a:rPr lang="en-IN" sz="3200"/>
            </a:br>
            <a:r>
              <a:rPr lang="en-IN" sz="3200"/>
              <a:t>Academic Year: 2025-26</a:t>
            </a:r>
            <a:br>
              <a:rPr lang="en-IN" sz="3200"/>
            </a:br>
            <a:br>
              <a:rPr lang="en-IN" sz="3200" b="1" i="0" u="none" strike="noStrike" cap="none">
                <a:solidFill>
                  <a:schemeClr val="dk1"/>
                </a:solidFill>
                <a:latin typeface="Calibri"/>
                <a:ea typeface="Calibri"/>
                <a:cs typeface="Calibri"/>
                <a:sym typeface="Calibri"/>
              </a:rPr>
            </a:br>
            <a:endParaRPr sz="3200" b="1" i="0" u="none" strike="noStrike" cap="none">
              <a:solidFill>
                <a:schemeClr val="dk1"/>
              </a:solidFill>
              <a:latin typeface="Calibri"/>
              <a:ea typeface="Calibri"/>
              <a:cs typeface="Calibri"/>
              <a:sym typeface="Calibri"/>
            </a:endParaRPr>
          </a:p>
        </p:txBody>
      </p:sp>
      <p:sp>
        <p:nvSpPr>
          <p:cNvPr id="89" name="Google Shape;89;gb992af5822_0_0"/>
          <p:cNvSpPr txBox="1">
            <a:spLocks noGrp="1"/>
          </p:cNvSpPr>
          <p:nvPr>
            <p:ph type="subTitle" idx="1"/>
          </p:nvPr>
        </p:nvSpPr>
        <p:spPr>
          <a:xfrm>
            <a:off x="903111" y="3897149"/>
            <a:ext cx="7783689" cy="2326669"/>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888888"/>
              </a:buClr>
              <a:buSzPts val="2400"/>
              <a:buNone/>
            </a:pPr>
            <a:endParaRPr sz="2200" b="0" i="0" u="none" strike="noStrike" cap="none" dirty="0">
              <a:solidFill>
                <a:srgbClr val="7F7F7F"/>
              </a:solidFill>
              <a:latin typeface="Calibri"/>
              <a:ea typeface="Calibri"/>
              <a:cs typeface="Calibri"/>
              <a:sym typeface="Calibri"/>
            </a:endParaRPr>
          </a:p>
          <a:p>
            <a:pPr marL="0" marR="0" lvl="0" indent="0" algn="l" rtl="0">
              <a:lnSpc>
                <a:spcPct val="100000"/>
              </a:lnSpc>
              <a:spcBef>
                <a:spcPts val="0"/>
              </a:spcBef>
              <a:spcAft>
                <a:spcPts val="0"/>
              </a:spcAft>
              <a:buClr>
                <a:srgbClr val="888888"/>
              </a:buClr>
              <a:buSzPts val="2400"/>
              <a:buNone/>
            </a:pPr>
            <a:r>
              <a:rPr lang="en-IN" sz="2200" b="0" i="0" u="none" strike="noStrike" cap="none" dirty="0">
                <a:solidFill>
                  <a:srgbClr val="595959"/>
                </a:solidFill>
                <a:latin typeface="Calibri"/>
                <a:ea typeface="Calibri"/>
                <a:cs typeface="Calibri"/>
                <a:sym typeface="Calibri"/>
              </a:rPr>
              <a:t>Presented by : </a:t>
            </a:r>
            <a:r>
              <a:rPr lang="en-IN" sz="2200" dirty="0">
                <a:solidFill>
                  <a:srgbClr val="595959"/>
                </a:solidFill>
              </a:rPr>
              <a:t> 	Soham Hande</a:t>
            </a:r>
            <a:r>
              <a:rPr lang="en-IN" sz="2200" b="0" i="0" u="none" strike="noStrike" cap="none" dirty="0">
                <a:solidFill>
                  <a:srgbClr val="595959"/>
                </a:solidFill>
                <a:latin typeface="Calibri"/>
                <a:ea typeface="Calibri"/>
                <a:cs typeface="Calibri"/>
                <a:sym typeface="Calibri"/>
              </a:rPr>
              <a:t> – A</a:t>
            </a:r>
            <a:r>
              <a:rPr lang="en-IN" sz="2200" dirty="0">
                <a:solidFill>
                  <a:srgbClr val="595959"/>
                </a:solidFill>
              </a:rPr>
              <a:t>129</a:t>
            </a:r>
            <a:endParaRPr dirty="0"/>
          </a:p>
          <a:p>
            <a:pPr marL="0" marR="0" lvl="0" indent="0" algn="l" rtl="0">
              <a:lnSpc>
                <a:spcPct val="100000"/>
              </a:lnSpc>
              <a:spcBef>
                <a:spcPts val="0"/>
              </a:spcBef>
              <a:spcAft>
                <a:spcPts val="0"/>
              </a:spcAft>
              <a:buClr>
                <a:srgbClr val="888888"/>
              </a:buClr>
              <a:buSzPts val="2400"/>
              <a:buNone/>
            </a:pPr>
            <a:r>
              <a:rPr lang="en-IN" sz="2200" dirty="0">
                <a:solidFill>
                  <a:srgbClr val="595959"/>
                </a:solidFill>
              </a:rPr>
              <a:t>	              	Aryan Turalkar- A152</a:t>
            </a:r>
            <a:endParaRPr dirty="0"/>
          </a:p>
          <a:p>
            <a:pPr marL="0" marR="0" lvl="0" indent="0" algn="l" rtl="0">
              <a:lnSpc>
                <a:spcPct val="100000"/>
              </a:lnSpc>
              <a:spcBef>
                <a:spcPts val="0"/>
              </a:spcBef>
              <a:spcAft>
                <a:spcPts val="0"/>
              </a:spcAft>
              <a:buClr>
                <a:srgbClr val="888888"/>
              </a:buClr>
              <a:buSzPts val="2400"/>
              <a:buNone/>
            </a:pPr>
            <a:r>
              <a:rPr lang="en-IN" sz="2200" dirty="0">
                <a:solidFill>
                  <a:srgbClr val="595959"/>
                </a:solidFill>
              </a:rPr>
              <a:t>	               Aryan Kohli – A167	 	</a:t>
            </a:r>
            <a:endParaRPr sz="2200" dirty="0">
              <a:solidFill>
                <a:srgbClr val="595959"/>
              </a:solidFill>
            </a:endParaRPr>
          </a:p>
          <a:p>
            <a:pPr marL="0" lvl="0" indent="0" algn="just" rtl="0">
              <a:lnSpc>
                <a:spcPct val="100000"/>
              </a:lnSpc>
              <a:spcBef>
                <a:spcPts val="480"/>
              </a:spcBef>
              <a:spcAft>
                <a:spcPts val="0"/>
              </a:spcAft>
              <a:buSzPts val="2400"/>
              <a:buNone/>
            </a:pPr>
            <a:r>
              <a:rPr lang="en-IN" sz="2200" dirty="0">
                <a:solidFill>
                  <a:srgbClr val="595959"/>
                </a:solidFill>
              </a:rPr>
              <a:t>Faculty Mentor: Dr. Chhaya </a:t>
            </a:r>
            <a:r>
              <a:rPr lang="en-IN" sz="2200" dirty="0" err="1">
                <a:solidFill>
                  <a:srgbClr val="595959"/>
                </a:solidFill>
              </a:rPr>
              <a:t>Dhavale</a:t>
            </a:r>
            <a:endParaRPr sz="2200" dirty="0">
              <a:solidFill>
                <a:srgbClr val="595959"/>
              </a:solidFill>
            </a:endParaRPr>
          </a:p>
          <a:p>
            <a:pPr marL="342900" marR="0" lvl="0" indent="-342900" algn="l" rtl="0">
              <a:lnSpc>
                <a:spcPct val="100000"/>
              </a:lnSpc>
              <a:spcBef>
                <a:spcPts val="0"/>
              </a:spcBef>
              <a:spcAft>
                <a:spcPts val="0"/>
              </a:spcAft>
              <a:buClr>
                <a:srgbClr val="888888"/>
              </a:buClr>
              <a:buSzPts val="2400"/>
              <a:buNone/>
            </a:pPr>
            <a:endParaRPr sz="2200" dirty="0">
              <a:solidFill>
                <a:srgbClr val="7F7F7F"/>
              </a:solidFill>
            </a:endParaRPr>
          </a:p>
          <a:p>
            <a:pPr marL="342900" marR="0" lvl="0" indent="-342900" algn="l" rtl="0">
              <a:lnSpc>
                <a:spcPct val="100000"/>
              </a:lnSpc>
              <a:spcBef>
                <a:spcPts val="0"/>
              </a:spcBef>
              <a:spcAft>
                <a:spcPts val="0"/>
              </a:spcAft>
              <a:buClr>
                <a:srgbClr val="888888"/>
              </a:buClr>
              <a:buSzPts val="2400"/>
              <a:buNone/>
            </a:pPr>
            <a:endParaRPr sz="2200" dirty="0">
              <a:solidFill>
                <a:srgbClr val="7F7F7F"/>
              </a:solidFill>
            </a:endParaRPr>
          </a:p>
        </p:txBody>
      </p:sp>
      <p:sp>
        <p:nvSpPr>
          <p:cNvPr id="90" name="Google Shape;90;gb992af5822_0_0"/>
          <p:cNvSpPr txBox="1">
            <a:spLocks noGrp="1"/>
          </p:cNvSpPr>
          <p:nvPr>
            <p:ph type="sldNum" idx="12"/>
          </p:nvPr>
        </p:nvSpPr>
        <p:spPr>
          <a:xfrm>
            <a:off x="6553200" y="6373546"/>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I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txBox="1">
            <a:spLocks noGrp="1"/>
          </p:cNvSpPr>
          <p:nvPr>
            <p:ph type="title"/>
          </p:nvPr>
        </p:nvSpPr>
        <p:spPr>
          <a:xfrm>
            <a:off x="519289" y="1083471"/>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IN" sz="3200" u="sng" dirty="0"/>
              <a:t>Proposed System Features</a:t>
            </a:r>
            <a:endParaRPr sz="3200" u="sng" dirty="0"/>
          </a:p>
        </p:txBody>
      </p:sp>
      <p:sp>
        <p:nvSpPr>
          <p:cNvPr id="96" name="Google Shape;96;p1"/>
          <p:cNvSpPr txBox="1">
            <a:spLocks noGrp="1"/>
          </p:cNvSpPr>
          <p:nvPr>
            <p:ph type="body" idx="1"/>
          </p:nvPr>
        </p:nvSpPr>
        <p:spPr>
          <a:xfrm>
            <a:off x="98322" y="1997871"/>
            <a:ext cx="8768190" cy="4070351"/>
          </a:xfrm>
          <a:prstGeom prst="rect">
            <a:avLst/>
          </a:prstGeom>
          <a:noFill/>
          <a:ln>
            <a:noFill/>
          </a:ln>
        </p:spPr>
        <p:txBody>
          <a:bodyPr spcFirstLastPara="1" wrap="square" lIns="91425" tIns="45700" rIns="91425" bIns="45700" anchor="t" anchorCtr="0">
            <a:noAutofit/>
          </a:bodyPr>
          <a:lstStyle/>
          <a:p>
            <a:pPr marL="114300" lvl="0" indent="0">
              <a:buNone/>
            </a:pPr>
            <a:r>
              <a:rPr lang="en-IN" sz="1800" dirty="0"/>
              <a:t>Title: </a:t>
            </a:r>
            <a:r>
              <a:rPr lang="en-IN" b="1" dirty="0"/>
              <a:t> </a:t>
            </a:r>
            <a:r>
              <a:rPr lang="en-IN" sz="1800" b="1" dirty="0"/>
              <a:t>SMB Autopilot: An Autonomous Multi-Agent Decision &amp; Compliance Framework   </a:t>
            </a:r>
          </a:p>
          <a:p>
            <a:pPr marL="114300" lvl="0" indent="0">
              <a:buNone/>
            </a:pPr>
            <a:r>
              <a:rPr lang="en-IN" sz="1800" b="1" dirty="0"/>
              <a:t>           for Indian MSMEs</a:t>
            </a:r>
            <a:endParaRPr sz="1800" dirty="0"/>
          </a:p>
          <a:p>
            <a:pPr marL="114300" lvl="0" indent="0" algn="l" rtl="0">
              <a:lnSpc>
                <a:spcPct val="100000"/>
              </a:lnSpc>
              <a:spcBef>
                <a:spcPts val="360"/>
              </a:spcBef>
              <a:spcAft>
                <a:spcPts val="0"/>
              </a:spcAft>
              <a:buSzPts val="1800"/>
              <a:buNone/>
            </a:pPr>
            <a:endParaRPr sz="1800" dirty="0"/>
          </a:p>
          <a:p>
            <a:pPr>
              <a:buFont typeface="Courier New" panose="02070309020205020404" pitchFamily="49" charset="0"/>
              <a:buChar char="o"/>
            </a:pPr>
            <a:r>
              <a:rPr lang="en-IN" sz="1350" b="1" dirty="0"/>
              <a:t>Scattered and Inconsistent Records:</a:t>
            </a:r>
            <a:br>
              <a:rPr lang="en-IN" sz="1350" dirty="0"/>
            </a:br>
            <a:r>
              <a:rPr lang="en-IN" sz="1350" dirty="0"/>
              <a:t>Small businesses receive records in mixed formats—paper receipts, photos, WhatsApp PDFs, and Excel sheets where every vendor labels columns differently. None of this data feeds into a central database.</a:t>
            </a:r>
          </a:p>
          <a:p>
            <a:pPr>
              <a:buFont typeface="Courier New" panose="02070309020205020404" pitchFamily="49" charset="0"/>
              <a:buChar char="o"/>
            </a:pPr>
            <a:r>
              <a:rPr lang="en-IN" sz="1350" b="1" dirty="0"/>
              <a:t>No Link Between Stock and Available Cash:</a:t>
            </a:r>
            <a:br>
              <a:rPr lang="en-IN" sz="1350" dirty="0"/>
            </a:br>
            <a:r>
              <a:rPr lang="en-IN" sz="1350" dirty="0"/>
              <a:t>Purchases are planned without checking real-time bank balances. Stock is ordered to prevent running out, while cash is held back for rent and payroll. Neither side has visibility into what the business can actually afford to spend at that moment.</a:t>
            </a:r>
          </a:p>
          <a:p>
            <a:pPr>
              <a:buFont typeface="Courier New" panose="02070309020205020404" pitchFamily="49" charset="0"/>
              <a:buChar char="o"/>
            </a:pPr>
            <a:r>
              <a:rPr lang="en-IN" sz="1350" b="1" dirty="0"/>
              <a:t>Bottleneck at the Business Owner:</a:t>
            </a:r>
            <a:br>
              <a:rPr lang="en-IN" sz="1350" dirty="0"/>
            </a:br>
            <a:r>
              <a:rPr lang="en-IN" sz="1350" dirty="0"/>
              <a:t>Because no system connects inventory requirements to bank balances, the owner has to review and approve every single purchase manually. When the owner is occupied, orders stall—leading either to stockouts or excess unsold goods.</a:t>
            </a:r>
          </a:p>
          <a:p>
            <a:pPr>
              <a:buFont typeface="Courier New" panose="02070309020205020404" pitchFamily="49" charset="0"/>
              <a:buChar char="o"/>
            </a:pPr>
            <a:r>
              <a:rPr lang="en-IN" sz="1350" b="1" dirty="0"/>
              <a:t>Unchecked Invoices and Billing Errors:</a:t>
            </a:r>
            <a:br>
              <a:rPr lang="en-IN" sz="1350" dirty="0"/>
            </a:br>
            <a:r>
              <a:rPr lang="en-IN" sz="1350" dirty="0"/>
              <a:t>Without an accounting or audit team, incoming bills are rarely verified line by line. Wrong GST calculations, duplicate bills, and simple addition errors get paid out without anyone catching them.</a:t>
            </a:r>
            <a:br>
              <a:rPr lang="en-IN" sz="1350" dirty="0"/>
            </a:br>
            <a:endParaRPr sz="1350" dirty="0">
              <a:latin typeface="Calibri"/>
              <a:ea typeface="Calibri"/>
              <a:cs typeface="Calibri"/>
              <a:sym typeface="Calibri"/>
            </a:endParaRPr>
          </a:p>
          <a:p>
            <a:pPr>
              <a:buFont typeface="Courier New" panose="02070309020205020404" pitchFamily="49" charset="0"/>
              <a:buChar char="o"/>
            </a:pPr>
            <a:endParaRPr sz="1300" dirty="0">
              <a:latin typeface="Calibri"/>
              <a:ea typeface="Calibri"/>
              <a:cs typeface="Calibri"/>
              <a:sym typeface="Calibri"/>
            </a:endParaRPr>
          </a:p>
          <a:p>
            <a:pPr>
              <a:buFont typeface="Courier New" panose="02070309020205020404" pitchFamily="49" charset="0"/>
              <a:buChar char="o"/>
            </a:pPr>
            <a:endParaRPr sz="1300" dirty="0">
              <a:latin typeface="Calibri"/>
              <a:ea typeface="Calibri"/>
              <a:cs typeface="Calibri"/>
              <a:sym typeface="Calibri"/>
            </a:endParaRPr>
          </a:p>
          <a:p>
            <a:pPr marL="514350" indent="-285750">
              <a:buFont typeface="Courier New" panose="02070309020205020404" pitchFamily="49" charset="0"/>
              <a:buChar char="o"/>
            </a:pPr>
            <a:endParaRPr sz="1300" dirty="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2200" dirty="0">
              <a:latin typeface="Calibri"/>
              <a:ea typeface="Calibri"/>
              <a:cs typeface="Calibri"/>
              <a:sym typeface="Calibri"/>
            </a:endParaRPr>
          </a:p>
        </p:txBody>
      </p:sp>
      <p:sp>
        <p:nvSpPr>
          <p:cNvPr id="97" name="Google Shape;97;p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IN"/>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3"/>
          <p:cNvSpPr txBox="1">
            <a:spLocks noGrp="1"/>
          </p:cNvSpPr>
          <p:nvPr>
            <p:ph type="title"/>
          </p:nvPr>
        </p:nvSpPr>
        <p:spPr>
          <a:xfrm>
            <a:off x="519289" y="1083471"/>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IN" sz="3200"/>
              <a:t>Proposed System Features</a:t>
            </a:r>
            <a:endParaRPr sz="3200"/>
          </a:p>
        </p:txBody>
      </p:sp>
      <p:sp>
        <p:nvSpPr>
          <p:cNvPr id="103" name="Google Shape;103;p3"/>
          <p:cNvSpPr txBox="1">
            <a:spLocks noGrp="1"/>
          </p:cNvSpPr>
          <p:nvPr>
            <p:ph type="body" idx="1"/>
          </p:nvPr>
        </p:nvSpPr>
        <p:spPr>
          <a:xfrm>
            <a:off x="169211" y="1786523"/>
            <a:ext cx="8455500" cy="4544700"/>
          </a:xfrm>
          <a:prstGeom prst="rect">
            <a:avLst/>
          </a:prstGeom>
          <a:noFill/>
          <a:ln>
            <a:noFill/>
          </a:ln>
        </p:spPr>
        <p:txBody>
          <a:bodyPr spcFirstLastPara="1" wrap="square" lIns="91425" tIns="45700" rIns="91425" bIns="45700" anchor="t" anchorCtr="0">
            <a:noAutofit/>
          </a:bodyPr>
          <a:lstStyle/>
          <a:p>
            <a:pPr marL="114300" lvl="0" indent="0" algn="l" rtl="0">
              <a:lnSpc>
                <a:spcPct val="100000"/>
              </a:lnSpc>
              <a:spcBef>
                <a:spcPts val="360"/>
              </a:spcBef>
              <a:spcAft>
                <a:spcPts val="0"/>
              </a:spcAft>
              <a:buSzPts val="1800"/>
              <a:buNone/>
            </a:pPr>
            <a:r>
              <a:rPr lang="en-IN" sz="1800" dirty="0"/>
              <a:t>Title: SMB Autopilot: A Multi-Agent AI Framework for Autonomous Business Operations in Small and Medium Enterprises </a:t>
            </a:r>
            <a:endParaRPr sz="1800" dirty="0"/>
          </a:p>
          <a:p>
            <a:pPr lvl="0"/>
            <a:r>
              <a:rPr lang="en-IN" sz="1200" b="1" dirty="0"/>
              <a:t>Module 1: Data Intake &amp; Digitalization Engine</a:t>
            </a:r>
            <a:endParaRPr lang="en-IN" sz="1200" dirty="0"/>
          </a:p>
          <a:p>
            <a:pPr lvl="1"/>
            <a:r>
              <a:rPr lang="en-IN" sz="1200" dirty="0"/>
              <a:t>Extracts text from receipts and invoice images using </a:t>
            </a:r>
            <a:r>
              <a:rPr lang="en-IN" sz="1200" dirty="0" err="1"/>
              <a:t>EasyOCR</a:t>
            </a:r>
            <a:r>
              <a:rPr lang="en-IN" sz="1200" dirty="0"/>
              <a:t> with CLAHE contrast tuning, </a:t>
            </a:r>
            <a:r>
              <a:rPr lang="en-IN" sz="1200" dirty="0" err="1"/>
              <a:t>deskewing</a:t>
            </a:r>
            <a:r>
              <a:rPr lang="en-IN" sz="1200" dirty="0"/>
              <a:t>, and a SHA-256 memory cache. </a:t>
            </a:r>
          </a:p>
          <a:p>
            <a:pPr lvl="1"/>
            <a:r>
              <a:rPr lang="en-IN" sz="1200" dirty="0"/>
              <a:t>Standardizes messy headers into a universal schema using a 3-tier resolver (Core Tax fields → Domain Extensions → Catch-all JSON attributes). </a:t>
            </a:r>
          </a:p>
          <a:p>
            <a:pPr lvl="1"/>
            <a:r>
              <a:rPr lang="en-IN" sz="1200" dirty="0"/>
              <a:t>Automatically detects business type (Fashion, Food, Electronics) using HSN codes and item semantic keywords, auto-saving clean rows into SQLite. </a:t>
            </a:r>
          </a:p>
          <a:p>
            <a:pPr lvl="0"/>
            <a:r>
              <a:rPr lang="en-IN" sz="1200" b="1" dirty="0"/>
              <a:t>Module 2: 2-Agent Reasoning &amp; Conflict Arbitrator </a:t>
            </a:r>
            <a:endParaRPr lang="en-IN" sz="1200" dirty="0"/>
          </a:p>
          <a:p>
            <a:pPr lvl="1"/>
            <a:r>
              <a:rPr lang="en-IN" sz="1200" b="1" dirty="0"/>
              <a:t>Inventory Agent:</a:t>
            </a:r>
            <a:r>
              <a:rPr lang="en-IN" sz="1200" dirty="0"/>
              <a:t> Queries </a:t>
            </a:r>
            <a:r>
              <a:rPr lang="en-IN" sz="1200" dirty="0" err="1"/>
              <a:t>inventory_items</a:t>
            </a:r>
            <a:r>
              <a:rPr lang="en-IN" sz="1200" dirty="0"/>
              <a:t> in real time, flags items where Stock &lt; Threshold, and recommends restock purchases (e.g., </a:t>
            </a:r>
            <a:r>
              <a:rPr lang="en-IN" sz="1200" i="1" dirty="0"/>
              <a:t>"Reorder SKU-001 for ₹50,000"</a:t>
            </a:r>
            <a:r>
              <a:rPr lang="en-IN" sz="1200" dirty="0"/>
              <a:t>). </a:t>
            </a:r>
          </a:p>
          <a:p>
            <a:pPr lvl="1"/>
            <a:r>
              <a:rPr lang="en-IN" sz="1200" b="1" dirty="0"/>
              <a:t>Finance Agent:</a:t>
            </a:r>
            <a:r>
              <a:rPr lang="en-IN" sz="1200" dirty="0"/>
              <a:t> Computes free liquid cash (Bank Balance − Payroll Reserve) and sets a hard expenditure ceiling (e.g., </a:t>
            </a:r>
            <a:r>
              <a:rPr lang="en-IN" sz="1200" i="1" dirty="0"/>
              <a:t>"Maximum budget allowed = ₹20,000"</a:t>
            </a:r>
            <a:r>
              <a:rPr lang="en-IN" sz="1200" dirty="0"/>
              <a:t>). </a:t>
            </a:r>
          </a:p>
          <a:p>
            <a:pPr lvl="1"/>
            <a:r>
              <a:rPr lang="en-IN" sz="1200" b="1" dirty="0"/>
              <a:t>2-Agent Arbitrator:</a:t>
            </a:r>
            <a:r>
              <a:rPr lang="en-IN" sz="1200" dirty="0"/>
              <a:t> Intercepts the conflict. It caps the ₹50,000 request to the ₹20,000 ceiling, recalculates the exact unit quantity that fits the budget, and generates an explainable decision card. </a:t>
            </a:r>
          </a:p>
          <a:p>
            <a:pPr lvl="0"/>
            <a:r>
              <a:rPr lang="en-IN" sz="1200" b="1" dirty="0"/>
              <a:t>Module 3: Cryptographic Audit Ledger &amp; Payment Settlement </a:t>
            </a:r>
            <a:r>
              <a:rPr lang="en-IN" sz="1200" dirty="0"/>
              <a:t> </a:t>
            </a:r>
          </a:p>
          <a:p>
            <a:pPr lvl="1"/>
            <a:r>
              <a:rPr lang="en-IN" sz="1200" b="1" dirty="0"/>
              <a:t>Pre-Payment 3-Way Math Audit:</a:t>
            </a:r>
            <a:r>
              <a:rPr lang="en-IN" sz="1200" dirty="0"/>
              <a:t> Verifies line items (Subtotal + Tax = Total) before any transaction is authorized. </a:t>
            </a:r>
          </a:p>
          <a:p>
            <a:pPr lvl="1"/>
            <a:r>
              <a:rPr lang="en-IN" sz="1200" b="1" dirty="0"/>
              <a:t>SHA-256 Audit Ledger:</a:t>
            </a:r>
            <a:r>
              <a:rPr lang="en-IN" sz="1200" dirty="0"/>
              <a:t> Chained hashing of every ingestion event, agent recommendation, and approval into </a:t>
            </a:r>
            <a:r>
              <a:rPr lang="en-IN" sz="1200" dirty="0" err="1"/>
              <a:t>audit_ledger</a:t>
            </a:r>
            <a:r>
              <a:rPr lang="en-IN" sz="1200" dirty="0"/>
              <a:t>, with a </a:t>
            </a:r>
            <a:r>
              <a:rPr lang="en-IN" sz="1200" dirty="0" err="1"/>
              <a:t>verify_chain</a:t>
            </a:r>
            <a:r>
              <a:rPr lang="en-IN" sz="1200" dirty="0"/>
              <a:t>() function to prove logs are tamper-free. </a:t>
            </a:r>
          </a:p>
          <a:p>
            <a:pPr lvl="1"/>
            <a:r>
              <a:rPr lang="en-IN" sz="1200" b="1" dirty="0"/>
              <a:t>Conditional Settlement:</a:t>
            </a:r>
            <a:r>
              <a:rPr lang="en-IN" sz="1200" dirty="0"/>
              <a:t> Releases mock vendor payments and flips invoice status to "PAID" only after passing arithmetic checks and audit verification.</a:t>
            </a:r>
          </a:p>
          <a:p>
            <a:pPr marL="457200" lvl="0" indent="-228600" algn="l" rtl="0">
              <a:lnSpc>
                <a:spcPct val="100000"/>
              </a:lnSpc>
              <a:spcBef>
                <a:spcPts val="360"/>
              </a:spcBef>
              <a:spcAft>
                <a:spcPts val="0"/>
              </a:spcAft>
              <a:buClr>
                <a:schemeClr val="dk1"/>
              </a:buClr>
              <a:buSzPts val="1800"/>
              <a:buNone/>
            </a:pPr>
            <a:endParaRPr sz="1200" dirty="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2200" dirty="0">
              <a:latin typeface="Calibri"/>
              <a:ea typeface="Calibri"/>
              <a:cs typeface="Calibri"/>
              <a:sym typeface="Calibri"/>
            </a:endParaRPr>
          </a:p>
        </p:txBody>
      </p:sp>
      <p:sp>
        <p:nvSpPr>
          <p:cNvPr id="104" name="Google Shape;104;p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I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IN"/>
              <a:t>4</a:t>
            </a:fld>
            <a:endParaRPr/>
          </a:p>
        </p:txBody>
      </p:sp>
      <p:sp>
        <p:nvSpPr>
          <p:cNvPr id="110" name="Google Shape;110;p11"/>
          <p:cNvSpPr txBox="1"/>
          <p:nvPr/>
        </p:nvSpPr>
        <p:spPr>
          <a:xfrm>
            <a:off x="3846870" y="779471"/>
            <a:ext cx="4921045"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sz="3200" b="1" i="0" u="none" strike="noStrike" cap="none">
                <a:solidFill>
                  <a:srgbClr val="000000"/>
                </a:solidFill>
                <a:latin typeface="Calibri"/>
                <a:ea typeface="Calibri"/>
                <a:cs typeface="Calibri"/>
                <a:sym typeface="Calibri"/>
              </a:rPr>
              <a:t>System Design </a:t>
            </a:r>
            <a:endParaRPr/>
          </a:p>
        </p:txBody>
      </p:sp>
      <p:pic>
        <p:nvPicPr>
          <p:cNvPr id="3" name="Picture 2">
            <a:extLst>
              <a:ext uri="{FF2B5EF4-FFF2-40B4-BE49-F238E27FC236}">
                <a16:creationId xmlns:a16="http://schemas.microsoft.com/office/drawing/2014/main" id="{662A9B31-A7E7-2097-BC7D-EE55C0A1E110}"/>
              </a:ext>
            </a:extLst>
          </p:cNvPr>
          <p:cNvPicPr>
            <a:picLocks noChangeAspect="1"/>
          </p:cNvPicPr>
          <p:nvPr/>
        </p:nvPicPr>
        <p:blipFill>
          <a:blip r:embed="rId3"/>
          <a:stretch>
            <a:fillRect/>
          </a:stretch>
        </p:blipFill>
        <p:spPr>
          <a:xfrm>
            <a:off x="842010" y="2763516"/>
            <a:ext cx="9144000" cy="19995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4"/>
          <p:cNvSpPr txBox="1">
            <a:spLocks noGrp="1"/>
          </p:cNvSpPr>
          <p:nvPr>
            <p:ph type="title"/>
          </p:nvPr>
        </p:nvSpPr>
        <p:spPr>
          <a:xfrm>
            <a:off x="519289" y="1083471"/>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IN" sz="3200" u="sng" dirty="0"/>
              <a:t>Challenges Faced during Project Development</a:t>
            </a:r>
            <a:endParaRPr sz="3200" u="sng" dirty="0"/>
          </a:p>
        </p:txBody>
      </p:sp>
      <p:sp>
        <p:nvSpPr>
          <p:cNvPr id="117" name="Google Shape;117;p4"/>
          <p:cNvSpPr txBox="1">
            <a:spLocks noGrp="1"/>
          </p:cNvSpPr>
          <p:nvPr>
            <p:ph type="body" idx="1"/>
          </p:nvPr>
        </p:nvSpPr>
        <p:spPr>
          <a:xfrm>
            <a:off x="169333" y="1706101"/>
            <a:ext cx="8455378" cy="4070351"/>
          </a:xfrm>
          <a:prstGeom prst="rect">
            <a:avLst/>
          </a:prstGeom>
          <a:noFill/>
          <a:ln>
            <a:noFill/>
          </a:ln>
        </p:spPr>
        <p:txBody>
          <a:bodyPr spcFirstLastPara="1" wrap="square" lIns="91425" tIns="45700" rIns="91425" bIns="45700" anchor="t" anchorCtr="0">
            <a:noAutofit/>
          </a:bodyPr>
          <a:lstStyle/>
          <a:p>
            <a:pPr lvl="0"/>
            <a:r>
              <a:rPr lang="en-IN" sz="1200" b="1" dirty="0"/>
              <a:t>Deadlock Between Inventory and Finance Agents:</a:t>
            </a:r>
            <a:endParaRPr lang="en-IN" sz="1200" dirty="0"/>
          </a:p>
          <a:p>
            <a:pPr lvl="1"/>
            <a:r>
              <a:rPr lang="en-IN" sz="1200" i="1" dirty="0"/>
              <a:t>The problem:</a:t>
            </a:r>
            <a:r>
              <a:rPr lang="en-IN" sz="1200" dirty="0"/>
              <a:t> The Inventory Agent tries to buy large batches to make sure stock never runs out (e.g., requesting ₹50,000). At the same time, the Finance Agent sees upcoming salary dates and blocks all spending above ₹20,000. Without an arbitrator, the system gets stuck and makes no decision.</a:t>
            </a:r>
          </a:p>
          <a:p>
            <a:pPr lvl="1"/>
            <a:r>
              <a:rPr lang="en-IN" sz="1200" i="1" dirty="0"/>
              <a:t>How we fixed it:</a:t>
            </a:r>
            <a:r>
              <a:rPr lang="en-IN" sz="1200" dirty="0"/>
              <a:t> We wrote an arbitration engine. It treats the liquid cash limit as a hard wall, calculates how many units can be bought within that ₹20,000 limit, and creates an adjusted purchase order so buying doesn't stop completely.</a:t>
            </a:r>
          </a:p>
          <a:p>
            <a:pPr lvl="0"/>
            <a:r>
              <a:rPr lang="en-IN" sz="1200" b="1" dirty="0"/>
              <a:t>Preventing Working Capital &amp; Payroll Risk in the Finance Agent:</a:t>
            </a:r>
            <a:endParaRPr lang="en-IN" sz="1200" dirty="0"/>
          </a:p>
          <a:p>
            <a:pPr lvl="1"/>
            <a:r>
              <a:rPr lang="en-IN" sz="1200" i="1" dirty="0"/>
              <a:t>The problem:</a:t>
            </a:r>
            <a:r>
              <a:rPr lang="en-IN" sz="1200" dirty="0"/>
              <a:t> A business might have ₹1,00,000 in the bank, but ₹80,000 of that is needed next week for payroll and rent. If an agent looks only at total bank balance, it could spend that money and cause a cash crunch.</a:t>
            </a:r>
          </a:p>
          <a:p>
            <a:pPr lvl="1"/>
            <a:r>
              <a:rPr lang="en-IN" sz="1200" i="1" dirty="0"/>
              <a:t>How we fixed it:</a:t>
            </a:r>
            <a:r>
              <a:rPr lang="en-IN" sz="1200" dirty="0"/>
              <a:t> The Finance Agent enforces a protected reserve formula: $\text{Available Budget} = \text{Bank Balance} - \text{Payroll Reserve} - \text{Emergency Buffer}$. Only the remaining cash is allowed for inventory reorders.</a:t>
            </a:r>
          </a:p>
          <a:p>
            <a:pPr lvl="0"/>
            <a:r>
              <a:rPr lang="en-IN" sz="1200" b="1" dirty="0"/>
              <a:t>Inconsistent Vendor Spreadsheets and Receipt Photos:</a:t>
            </a:r>
            <a:endParaRPr lang="en-IN" sz="1200" dirty="0"/>
          </a:p>
          <a:p>
            <a:pPr lvl="1"/>
            <a:r>
              <a:rPr lang="en-IN" sz="1200" i="1" dirty="0"/>
              <a:t>The problem:</a:t>
            </a:r>
            <a:r>
              <a:rPr lang="en-IN" sz="1200" dirty="0"/>
              <a:t> Every supplier names columns differently (e.g., Rate, Price per unit, </a:t>
            </a:r>
            <a:r>
              <a:rPr lang="en-IN" sz="1200" dirty="0" err="1"/>
              <a:t>unit_cost</a:t>
            </a:r>
            <a:r>
              <a:rPr lang="en-IN" sz="1200" dirty="0"/>
              <a:t>), and paper bills come with bad lighting, wrong tax calculations, or missing HSN codes.</a:t>
            </a:r>
          </a:p>
          <a:p>
            <a:pPr lvl="1"/>
            <a:r>
              <a:rPr lang="en-IN" sz="1200" i="1" dirty="0"/>
              <a:t>How we fixed it:</a:t>
            </a:r>
            <a:r>
              <a:rPr lang="en-IN" sz="1200" dirty="0"/>
              <a:t> We built a 3-tier resolver that maps synonyms, verifies line-item math ($\text{Subtotal} + \text{Tax} = \text{Total}$), and saves any unknown custom columns into a JSON field so SQLite never breaks.</a:t>
            </a:r>
          </a:p>
          <a:p>
            <a:pPr lvl="0"/>
            <a:r>
              <a:rPr lang="en-IN" sz="1200" b="1" dirty="0"/>
              <a:t>Tamper-Proof Tracking for Autonomous Decisions:</a:t>
            </a:r>
            <a:endParaRPr lang="en-IN" sz="1200" dirty="0"/>
          </a:p>
          <a:p>
            <a:pPr lvl="1"/>
            <a:r>
              <a:rPr lang="en-IN" sz="1200" i="1" dirty="0"/>
              <a:t>The problem:</a:t>
            </a:r>
            <a:r>
              <a:rPr lang="en-IN" sz="1200" dirty="0"/>
              <a:t> If agents make automated buying decisions, simple database logs can be edited or deleted if something goes wrong.</a:t>
            </a:r>
          </a:p>
          <a:p>
            <a:pPr lvl="1"/>
            <a:r>
              <a:rPr lang="en-IN" sz="1200" i="1" dirty="0"/>
              <a:t>How we fixed it:</a:t>
            </a:r>
            <a:r>
              <a:rPr lang="en-IN" sz="1200" dirty="0"/>
              <a:t> We implemented a SHA-256 hash-chain audit ledger. Each new decision links to the hash of the previous one. If any past record or price is altered, the chain breaks and triggers an instant alert.</a:t>
            </a:r>
          </a:p>
          <a:p>
            <a:pPr marL="114300" lvl="0" indent="0" algn="l" rtl="0">
              <a:lnSpc>
                <a:spcPct val="100000"/>
              </a:lnSpc>
              <a:spcBef>
                <a:spcPts val="360"/>
              </a:spcBef>
              <a:spcAft>
                <a:spcPts val="0"/>
              </a:spcAft>
              <a:buSzPts val="1800"/>
              <a:buNone/>
            </a:pPr>
            <a:endParaRPr sz="2200" dirty="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2200" dirty="0">
              <a:latin typeface="Calibri"/>
              <a:ea typeface="Calibri"/>
              <a:cs typeface="Calibri"/>
              <a:sym typeface="Calibri"/>
            </a:endParaRPr>
          </a:p>
          <a:p>
            <a:pPr marL="457200" lvl="0" indent="-228600" algn="l" rtl="0">
              <a:lnSpc>
                <a:spcPct val="100000"/>
              </a:lnSpc>
              <a:spcBef>
                <a:spcPts val="360"/>
              </a:spcBef>
              <a:spcAft>
                <a:spcPts val="0"/>
              </a:spcAft>
              <a:buClr>
                <a:schemeClr val="dk1"/>
              </a:buClr>
              <a:buSzPts val="1800"/>
              <a:buNone/>
            </a:pPr>
            <a:endParaRPr sz="2200" dirty="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2200" dirty="0">
              <a:latin typeface="Calibri"/>
              <a:ea typeface="Calibri"/>
              <a:cs typeface="Calibri"/>
              <a:sym typeface="Calibri"/>
            </a:endParaRPr>
          </a:p>
        </p:txBody>
      </p:sp>
      <p:sp>
        <p:nvSpPr>
          <p:cNvPr id="118" name="Google Shape;118;p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IN"/>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6"/>
          <p:cNvSpPr txBox="1">
            <a:spLocks noGrp="1"/>
          </p:cNvSpPr>
          <p:nvPr>
            <p:ph type="title"/>
          </p:nvPr>
        </p:nvSpPr>
        <p:spPr>
          <a:xfrm>
            <a:off x="519289" y="1083471"/>
            <a:ext cx="8229600" cy="9144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1800"/>
              <a:buNone/>
            </a:pPr>
            <a:r>
              <a:rPr lang="en-IN" sz="3200" u="sng" dirty="0"/>
              <a:t>Tools and Technologies</a:t>
            </a:r>
            <a:endParaRPr sz="3200" u="sng" dirty="0"/>
          </a:p>
        </p:txBody>
      </p:sp>
      <p:sp>
        <p:nvSpPr>
          <p:cNvPr id="131" name="Google Shape;131;p6"/>
          <p:cNvSpPr txBox="1">
            <a:spLocks noGrp="1"/>
          </p:cNvSpPr>
          <p:nvPr>
            <p:ph type="body" idx="1"/>
          </p:nvPr>
        </p:nvSpPr>
        <p:spPr>
          <a:xfrm>
            <a:off x="519289" y="1986320"/>
            <a:ext cx="8455378" cy="4070351"/>
          </a:xfrm>
          <a:prstGeom prst="rect">
            <a:avLst/>
          </a:prstGeom>
          <a:noFill/>
          <a:ln>
            <a:noFill/>
          </a:ln>
        </p:spPr>
        <p:txBody>
          <a:bodyPr spcFirstLastPara="1" wrap="square" lIns="91425" tIns="45700" rIns="91425" bIns="45700" anchor="t" anchorCtr="0">
            <a:noAutofit/>
          </a:bodyPr>
          <a:lstStyle/>
          <a:p>
            <a:pPr lvl="0"/>
            <a:r>
              <a:rPr lang="en-IN" sz="1400" b="1" dirty="0"/>
              <a:t>Python 3.11 &amp; </a:t>
            </a:r>
            <a:r>
              <a:rPr lang="en-IN" sz="1400" b="1" dirty="0" err="1"/>
              <a:t>FastAPI</a:t>
            </a:r>
            <a:r>
              <a:rPr lang="en-IN" sz="1400" b="1" dirty="0"/>
              <a:t>:</a:t>
            </a:r>
            <a:br>
              <a:rPr lang="en-IN" sz="1400" dirty="0"/>
            </a:br>
            <a:r>
              <a:rPr lang="en-IN" sz="1400" dirty="0"/>
              <a:t>The main programming language and backend API. </a:t>
            </a:r>
            <a:r>
              <a:rPr lang="en-IN" sz="1400" dirty="0" err="1"/>
              <a:t>FastAPI</a:t>
            </a:r>
            <a:r>
              <a:rPr lang="en-IN" sz="1400" dirty="0"/>
              <a:t> runs the agent evaluation loops, file ingestion endpoints, and serves data to the frontend.</a:t>
            </a:r>
          </a:p>
          <a:p>
            <a:pPr lvl="0"/>
            <a:r>
              <a:rPr lang="en-IN" sz="1400" b="1" dirty="0"/>
              <a:t>Multi-Agent Logic &amp; </a:t>
            </a:r>
            <a:r>
              <a:rPr lang="en-IN" sz="1400" b="1" dirty="0" err="1"/>
              <a:t>Pydantic</a:t>
            </a:r>
            <a:r>
              <a:rPr lang="en-IN" sz="1400" b="1" dirty="0"/>
              <a:t>:</a:t>
            </a:r>
            <a:br>
              <a:rPr lang="en-IN" sz="1400" dirty="0"/>
            </a:br>
            <a:r>
              <a:rPr lang="en-IN" sz="1400" dirty="0"/>
              <a:t>Custom agent logic built in Python. </a:t>
            </a:r>
            <a:r>
              <a:rPr lang="en-IN" sz="1400" dirty="0" err="1"/>
              <a:t>Pydantic</a:t>
            </a:r>
            <a:r>
              <a:rPr lang="en-IN" sz="1400" dirty="0"/>
              <a:t> models define strict inputs and outputs for each agent so they can exchange structured data without type errors.</a:t>
            </a:r>
          </a:p>
          <a:p>
            <a:pPr lvl="0"/>
            <a:r>
              <a:rPr lang="en-IN" sz="1400" b="1" dirty="0" err="1"/>
              <a:t>EasyOCR</a:t>
            </a:r>
            <a:r>
              <a:rPr lang="en-IN" sz="1400" b="1" dirty="0"/>
              <a:t> &amp; OpenCV:</a:t>
            </a:r>
            <a:br>
              <a:rPr lang="en-IN" sz="1400" dirty="0"/>
            </a:br>
            <a:r>
              <a:rPr lang="en-IN" sz="1400" dirty="0"/>
              <a:t>Used to read text from invoice photos and receipts. OpenCV cleans the image (removes tilt and boosts contrast), and </a:t>
            </a:r>
            <a:r>
              <a:rPr lang="en-IN" sz="1400" dirty="0" err="1"/>
              <a:t>EasyOCR</a:t>
            </a:r>
            <a:r>
              <a:rPr lang="en-IN" sz="1400" dirty="0"/>
              <a:t> extracts the text on CPU with SHA-256 caching so repeat tests are instant.</a:t>
            </a:r>
          </a:p>
          <a:p>
            <a:pPr lvl="0"/>
            <a:r>
              <a:rPr lang="en-IN" sz="1400" b="1" dirty="0"/>
              <a:t>SQLite &amp; Dynamic JSON:</a:t>
            </a:r>
            <a:br>
              <a:rPr lang="en-IN" sz="1400" dirty="0"/>
            </a:br>
            <a:r>
              <a:rPr lang="en-IN" sz="1400" dirty="0"/>
              <a:t>Our primary database. Stores stock levels, invoices, and purchase orders. Non-standard vendor columns are stored in an attributes JSON field so we don't have to alter table columns for different industries.</a:t>
            </a:r>
          </a:p>
          <a:p>
            <a:pPr lvl="0"/>
            <a:r>
              <a:rPr lang="en-IN" sz="1400" b="1" dirty="0"/>
              <a:t>Cryptographic Hashing (SHA-256):</a:t>
            </a:r>
            <a:br>
              <a:rPr lang="en-IN" sz="1400" dirty="0"/>
            </a:br>
            <a:r>
              <a:rPr lang="en-IN" sz="1400" dirty="0"/>
              <a:t>Used for two things: instant OCR caching by hashing raw file bytes, and linking every agent decision in a tamper-evident audit ledger.</a:t>
            </a:r>
          </a:p>
          <a:p>
            <a:pPr lvl="0"/>
            <a:r>
              <a:rPr lang="en-IN" sz="1400" b="1" dirty="0"/>
              <a:t>React + Vite &amp; TypeScript:</a:t>
            </a:r>
            <a:br>
              <a:rPr lang="en-IN" sz="1400" dirty="0"/>
            </a:br>
            <a:r>
              <a:rPr lang="en-IN" sz="1400" dirty="0"/>
              <a:t>The frontend control panel. Displays live stock warnings, agent decision cards (Inventory vs. Finance vs. Arbitrated), and the final approval modal.</a:t>
            </a:r>
          </a:p>
          <a:p>
            <a:pPr marL="457200" lvl="0" indent="0" algn="l" rtl="0">
              <a:lnSpc>
                <a:spcPct val="100000"/>
              </a:lnSpc>
              <a:spcBef>
                <a:spcPts val="360"/>
              </a:spcBef>
              <a:spcAft>
                <a:spcPts val="0"/>
              </a:spcAft>
              <a:buNone/>
            </a:pPr>
            <a:endParaRPr sz="1400" dirty="0"/>
          </a:p>
          <a:p>
            <a:pPr marL="114300" lvl="0" indent="0" algn="l" rtl="0">
              <a:lnSpc>
                <a:spcPct val="100000"/>
              </a:lnSpc>
              <a:spcBef>
                <a:spcPts val="360"/>
              </a:spcBef>
              <a:spcAft>
                <a:spcPts val="0"/>
              </a:spcAft>
              <a:buSzPts val="1800"/>
              <a:buNone/>
            </a:pPr>
            <a:endParaRPr sz="1400" dirty="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1400" dirty="0">
              <a:latin typeface="Calibri"/>
              <a:ea typeface="Calibri"/>
              <a:cs typeface="Calibri"/>
              <a:sym typeface="Calibri"/>
            </a:endParaRPr>
          </a:p>
          <a:p>
            <a:pPr marL="457200" lvl="0" indent="-228600" algn="l" rtl="0">
              <a:lnSpc>
                <a:spcPct val="100000"/>
              </a:lnSpc>
              <a:spcBef>
                <a:spcPts val="360"/>
              </a:spcBef>
              <a:spcAft>
                <a:spcPts val="0"/>
              </a:spcAft>
              <a:buClr>
                <a:schemeClr val="dk1"/>
              </a:buClr>
              <a:buSzPts val="1800"/>
              <a:buNone/>
            </a:pPr>
            <a:endParaRPr sz="1400" dirty="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2200" dirty="0">
              <a:latin typeface="Calibri"/>
              <a:ea typeface="Calibri"/>
              <a:cs typeface="Calibri"/>
              <a:sym typeface="Calibri"/>
            </a:endParaRPr>
          </a:p>
        </p:txBody>
      </p:sp>
      <p:sp>
        <p:nvSpPr>
          <p:cNvPr id="132" name="Google Shape;132;p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IN"/>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IN"/>
              <a:t>7</a:t>
            </a:fld>
            <a:endParaRPr/>
          </a:p>
        </p:txBody>
      </p:sp>
      <p:pic>
        <p:nvPicPr>
          <p:cNvPr id="3" name="Picture 2">
            <a:extLst>
              <a:ext uri="{FF2B5EF4-FFF2-40B4-BE49-F238E27FC236}">
                <a16:creationId xmlns:a16="http://schemas.microsoft.com/office/drawing/2014/main" id="{04FC1ED6-5551-7110-86AF-B78C36F8525B}"/>
              </a:ext>
            </a:extLst>
          </p:cNvPr>
          <p:cNvPicPr>
            <a:picLocks noChangeAspect="1"/>
          </p:cNvPicPr>
          <p:nvPr/>
        </p:nvPicPr>
        <p:blipFill>
          <a:blip r:embed="rId3"/>
          <a:stretch>
            <a:fillRect/>
          </a:stretch>
        </p:blipFill>
        <p:spPr>
          <a:xfrm>
            <a:off x="3490452" y="737418"/>
            <a:ext cx="4724399" cy="5899355"/>
          </a:xfrm>
          <a:prstGeom prst="rect">
            <a:avLst/>
          </a:prstGeom>
        </p:spPr>
      </p:pic>
      <p:sp>
        <p:nvSpPr>
          <p:cNvPr id="4" name="TextBox 3">
            <a:extLst>
              <a:ext uri="{FF2B5EF4-FFF2-40B4-BE49-F238E27FC236}">
                <a16:creationId xmlns:a16="http://schemas.microsoft.com/office/drawing/2014/main" id="{4B6DEB01-085A-C0E0-6073-943F4B3FC229}"/>
              </a:ext>
            </a:extLst>
          </p:cNvPr>
          <p:cNvSpPr txBox="1"/>
          <p:nvPr/>
        </p:nvSpPr>
        <p:spPr>
          <a:xfrm>
            <a:off x="206477" y="2192594"/>
            <a:ext cx="2812026" cy="384721"/>
          </a:xfrm>
          <a:prstGeom prst="rect">
            <a:avLst/>
          </a:prstGeom>
          <a:noFill/>
        </p:spPr>
        <p:txBody>
          <a:bodyPr wrap="square" rtlCol="0">
            <a:spAutoFit/>
          </a:bodyPr>
          <a:lstStyle/>
          <a:p>
            <a:r>
              <a:rPr lang="en-IN" sz="1900" b="1" u="sng" dirty="0"/>
              <a:t>PROGRESS REVIEW</a:t>
            </a:r>
          </a:p>
        </p:txBody>
      </p:sp>
      <p:sp>
        <p:nvSpPr>
          <p:cNvPr id="5" name="Rectangle 4">
            <a:extLst>
              <a:ext uri="{FF2B5EF4-FFF2-40B4-BE49-F238E27FC236}">
                <a16:creationId xmlns:a16="http://schemas.microsoft.com/office/drawing/2014/main" id="{446DD8C4-8296-8623-7876-8F4BC1BC633B}"/>
              </a:ext>
            </a:extLst>
          </p:cNvPr>
          <p:cNvSpPr/>
          <p:nvPr/>
        </p:nvSpPr>
        <p:spPr>
          <a:xfrm>
            <a:off x="7482348" y="4994786"/>
            <a:ext cx="599767" cy="1769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8974DAD2-71CD-8528-C4BF-BB7691DA3213}"/>
              </a:ext>
            </a:extLst>
          </p:cNvPr>
          <p:cNvSpPr/>
          <p:nvPr/>
        </p:nvSpPr>
        <p:spPr>
          <a:xfrm>
            <a:off x="7482347" y="5595675"/>
            <a:ext cx="599767" cy="17698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xfrm>
            <a:off x="322644" y="3097467"/>
            <a:ext cx="8229600" cy="914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800"/>
              <a:buNone/>
            </a:pPr>
            <a:r>
              <a:rPr lang="en-IN" sz="6000"/>
              <a:t>Thank You</a:t>
            </a:r>
            <a:endParaRPr sz="6000"/>
          </a:p>
        </p:txBody>
      </p:sp>
      <p:sp>
        <p:nvSpPr>
          <p:cNvPr id="165" name="Google Shape;165;p24"/>
          <p:cNvSpPr txBox="1">
            <a:spLocks noGrp="1"/>
          </p:cNvSpPr>
          <p:nvPr>
            <p:ph type="body" idx="1"/>
          </p:nvPr>
        </p:nvSpPr>
        <p:spPr>
          <a:xfrm>
            <a:off x="519289" y="1986320"/>
            <a:ext cx="8455378" cy="4070351"/>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360"/>
              </a:spcBef>
              <a:spcAft>
                <a:spcPts val="0"/>
              </a:spcAft>
              <a:buClr>
                <a:schemeClr val="dk1"/>
              </a:buClr>
              <a:buSzPts val="1800"/>
              <a:buNone/>
            </a:pPr>
            <a:endParaRPr sz="220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2200">
              <a:latin typeface="Calibri"/>
              <a:ea typeface="Calibri"/>
              <a:cs typeface="Calibri"/>
              <a:sym typeface="Calibri"/>
            </a:endParaRPr>
          </a:p>
          <a:p>
            <a:pPr marL="457200" lvl="0" indent="-228600" algn="l" rtl="0">
              <a:lnSpc>
                <a:spcPct val="100000"/>
              </a:lnSpc>
              <a:spcBef>
                <a:spcPts val="360"/>
              </a:spcBef>
              <a:spcAft>
                <a:spcPts val="0"/>
              </a:spcAft>
              <a:buClr>
                <a:schemeClr val="dk1"/>
              </a:buClr>
              <a:buSzPts val="1800"/>
              <a:buNone/>
            </a:pPr>
            <a:endParaRPr sz="2200">
              <a:latin typeface="Calibri"/>
              <a:ea typeface="Calibri"/>
              <a:cs typeface="Calibri"/>
              <a:sym typeface="Calibri"/>
            </a:endParaRPr>
          </a:p>
          <a:p>
            <a:pPr marL="114300" lvl="0" indent="0" algn="l" rtl="0">
              <a:lnSpc>
                <a:spcPct val="100000"/>
              </a:lnSpc>
              <a:spcBef>
                <a:spcPts val="360"/>
              </a:spcBef>
              <a:spcAft>
                <a:spcPts val="0"/>
              </a:spcAft>
              <a:buSzPts val="1800"/>
              <a:buNone/>
            </a:pPr>
            <a:endParaRPr sz="2200">
              <a:latin typeface="Calibri"/>
              <a:ea typeface="Calibri"/>
              <a:cs typeface="Calibri"/>
              <a:sym typeface="Calibri"/>
            </a:endParaRPr>
          </a:p>
        </p:txBody>
      </p:sp>
      <p:sp>
        <p:nvSpPr>
          <p:cNvPr id="166" name="Google Shape;166;p2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IN"/>
              <a:t>8</a:t>
            </a:fld>
            <a:endParaRPr/>
          </a:p>
        </p:txBody>
      </p:sp>
    </p:spTree>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418</TotalTime>
  <Words>1187</Words>
  <Application>Microsoft Office PowerPoint</Application>
  <PresentationFormat>On-screen Show (4:3)</PresentationFormat>
  <Paragraphs>68</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Courier New</vt:lpstr>
      <vt:lpstr>Noto Sans Symbols</vt:lpstr>
      <vt:lpstr>MPSTME</vt:lpstr>
      <vt:lpstr>        B.Tech. Artificial Intelligence and Data Science Semester: 7 Capstone Review 2 Academic Year: 2025-26  </vt:lpstr>
      <vt:lpstr>Proposed System Features</vt:lpstr>
      <vt:lpstr>Proposed System Features</vt:lpstr>
      <vt:lpstr>PowerPoint Presentation</vt:lpstr>
      <vt:lpstr>Challenges Faced during Project Development</vt:lpstr>
      <vt:lpstr>Tools and Technologies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Dhirendra Mishra</dc:creator>
  <cp:lastModifiedBy>Aryan Turalkar</cp:lastModifiedBy>
  <cp:revision>2</cp:revision>
  <dcterms:created xsi:type="dcterms:W3CDTF">2017-04-11T09:48:28Z</dcterms:created>
  <dcterms:modified xsi:type="dcterms:W3CDTF">2026-09-08T15:30:02Z</dcterms:modified>
</cp:coreProperties>
</file>